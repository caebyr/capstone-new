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8288000" cy="10287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4" d="100"/>
          <a:sy n="54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050A30"/>
                </a:solidFill>
                <a:latin typeface="HK Grotesk"/>
              </a:rPr>
              <a:t>% Complete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% Complete</c:v>
                </c:pt>
              </c:strCache>
            </c:strRef>
          </c:tx>
          <c:spPr>
            <a:solidFill>
              <a:srgbClr val="EB1B21"/>
            </a:solidFill>
            <a:ln>
              <a:noFill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Phase 1: Dataset Prep
&amp; Ontology Mapping</c:v>
                </c:pt>
                <c:pt idx="1">
                  <c:v>Phase 2: Baseline
OVOD</c:v>
                </c:pt>
                <c:pt idx="2">
                  <c:v>Phase 3: Semantic
Drift Measurement</c:v>
                </c:pt>
                <c:pt idx="3">
                  <c:v>Phase 4: Drift &amp;
Failure Analysis</c:v>
                </c:pt>
                <c:pt idx="4">
                  <c:v>Phase 5: Altitude-Aware
Alignment</c:v>
                </c:pt>
                <c:pt idx="5">
                  <c:v>Phase 6: Evaluation
&amp; Comparison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85</c:v>
                </c:pt>
                <c:pt idx="1">
                  <c:v>75</c:v>
                </c:pt>
                <c:pt idx="2">
                  <c:v>90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98B-4FDC-9C37-100C03D4FB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solidFill>
                  <a:srgbClr val="2A2E30"/>
                </a:solidFill>
                <a:latin typeface="HK Grotesk Medium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A2E30"/>
                </a:solidFill>
                <a:latin typeface="HK Grotesk Medium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200">
          <a:latin typeface="HK Grotesk Medium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56862" y="8145991"/>
            <a:ext cx="6773333" cy="12167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 dirty="0">
                <a:solidFill>
                  <a:srgbClr val="F4F6FC"/>
                </a:solidFill>
                <a:latin typeface="HK Grotesk"/>
              </a:rPr>
              <a:t>MENTOR</a:t>
            </a:r>
          </a:p>
          <a:p>
            <a:pPr algn="r">
              <a:lnSpc>
                <a:spcPct val="115000"/>
              </a:lnSpc>
              <a:spcBef>
                <a:spcPts val="600"/>
              </a:spcBef>
            </a:pPr>
            <a:r>
              <a:rPr sz="2400" b="1" dirty="0">
                <a:solidFill>
                  <a:srgbClr val="F4F6FC"/>
                </a:solidFill>
                <a:latin typeface="HK Grotesk"/>
              </a:rPr>
              <a:t>Dr. Geeta </a:t>
            </a:r>
            <a:r>
              <a:rPr sz="2400" b="1" dirty="0" err="1">
                <a:solidFill>
                  <a:srgbClr val="F4F6FC"/>
                </a:solidFill>
                <a:latin typeface="HK Grotesk"/>
              </a:rPr>
              <a:t>Kasana</a:t>
            </a:r>
            <a:endParaRPr sz="2400" b="1" dirty="0">
              <a:solidFill>
                <a:srgbClr val="F4F6FC"/>
              </a:solidFill>
              <a:latin typeface="HK Grotesk"/>
            </a:endParaRPr>
          </a:p>
          <a:p>
            <a:pPr algn="r">
              <a:spcBef>
                <a:spcPts val="200"/>
              </a:spcBef>
            </a:pPr>
            <a:r>
              <a:rPr sz="1600" dirty="0">
                <a:solidFill>
                  <a:srgbClr val="F4F6FC"/>
                </a:solidFill>
                <a:latin typeface="HK Grotesk Medium"/>
              </a:rPr>
              <a:t>Associate Professor, CSE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8266" y="5101166"/>
            <a:ext cx="2726266" cy="2159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951133" y="5600699"/>
            <a:ext cx="1659466" cy="2159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484533" y="6100233"/>
            <a:ext cx="1659466" cy="215900"/>
          </a:xfrm>
          <a:prstGeom prst="rect">
            <a:avLst/>
          </a:prstGeom>
          <a:solidFill>
            <a:srgbClr val="9999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546666" y="8720666"/>
            <a:ext cx="4064000" cy="50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1">
                <a:solidFill>
                  <a:srgbClr val="555555"/>
                </a:solidFill>
                <a:latin typeface="HK Grotesk Medium"/>
              </a:rPr>
              <a:t>As of Aug 22,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549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0666" y="1693333"/>
            <a:ext cx="14393333" cy="1100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 dirty="0">
                <a:solidFill>
                  <a:srgbClr val="11095D"/>
                </a:solidFill>
                <a:latin typeface="Arsenal"/>
              </a:rPr>
              <a:t>Architecture &amp; Pipeline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66" y="2540000"/>
            <a:ext cx="16086666" cy="338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B1B21"/>
                </a:solidFill>
                <a:latin typeface="HK Grotesk"/>
              </a:rPr>
              <a:t>Overall Architecture — Semantic-Drift Analysis Framework (Fig. 4.1)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00666" y="3462866"/>
            <a:ext cx="1397000" cy="592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DOTA Dataset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(Satellite Domain)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00666" y="4157133"/>
            <a:ext cx="1397000" cy="592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VisDrone Dataset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(UAV Domain)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67000" y="3776133"/>
            <a:ext cx="1397000" cy="66040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Annotation Processing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+ Common Class Mapping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33333" y="3776133"/>
            <a:ext cx="1397000" cy="66040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50A30"/>
                </a:solidFill>
                <a:latin typeface="HK Grotesk Medium"/>
              </a:rPr>
              <a:t>Ground-Truth Crop Extraction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050A30"/>
                </a:solidFill>
                <a:latin typeface="HK Grotesk Medium"/>
              </a:rPr>
              <a:t>+ Controlled Class Sampling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99666" y="3115733"/>
            <a:ext cx="1397000" cy="592666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CLIP ViT-B/32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(Baseline)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99666" y="3809999"/>
            <a:ext cx="1397000" cy="592666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RemoteCLIP ViT-L/14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(Baseline)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99666" y="4504266"/>
            <a:ext cx="1397000" cy="592666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CLIP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(UAV Fine-Tuned)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6000" y="3776133"/>
            <a:ext cx="1397000" cy="66040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Embedding Generation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+ Normalization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2333" y="3776133"/>
            <a:ext cx="1397000" cy="660400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Class-wise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Aggregation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98666" y="3115733"/>
            <a:ext cx="1397000" cy="592666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50A30"/>
                </a:solidFill>
                <a:latin typeface="HK Grotesk Medium"/>
              </a:rPr>
              <a:t>L2 Distance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98666" y="3809999"/>
            <a:ext cx="1397000" cy="592666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50A30"/>
                </a:solidFill>
                <a:latin typeface="HK Grotesk Medium"/>
              </a:rPr>
              <a:t>Cosine Distance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98666" y="4504266"/>
            <a:ext cx="1397000" cy="592666"/>
          </a:xfrm>
          <a:prstGeom prst="roundRect">
            <a:avLst/>
          </a:prstGeom>
          <a:solidFill>
            <a:srgbClr val="D5E8D4"/>
          </a:solidFill>
          <a:ln w="12700">
            <a:solidFill>
              <a:srgbClr val="82B36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Intra-domain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050A30"/>
                </a:solidFill>
                <a:latin typeface="HK Grotesk Medium"/>
              </a:rPr>
              <a:t>Variation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065000" y="3776133"/>
            <a:ext cx="1397000" cy="660400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B8545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50A30"/>
                </a:solidFill>
                <a:latin typeface="HK Grotesk Medium"/>
              </a:rPr>
              <a:t>Semantic Drift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50A30"/>
                </a:solidFill>
                <a:latin typeface="HK Grotesk Medium"/>
              </a:rPr>
              <a:t>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631333" y="3115733"/>
            <a:ext cx="1397000" cy="592666"/>
          </a:xfrm>
          <a:prstGeom prst="round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PCA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631333" y="3809999"/>
            <a:ext cx="1397000" cy="592666"/>
          </a:xfrm>
          <a:prstGeom prst="round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t-SNE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631333" y="4504266"/>
            <a:ext cx="1397000" cy="592666"/>
          </a:xfrm>
          <a:prstGeom prst="round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Heatmap /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050A30"/>
                </a:solidFill>
                <a:latin typeface="HK Grotesk Medium"/>
              </a:rPr>
              <a:t>Comparison Plot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197666" y="3776133"/>
            <a:ext cx="1397000" cy="660400"/>
          </a:xfrm>
          <a:prstGeom prst="roundRect">
            <a:avLst/>
          </a:prstGeom>
          <a:solidFill>
            <a:srgbClr val="305496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K Grotesk Medium"/>
              </a:rPr>
              <a:t>Experimental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HK Grotesk Medium"/>
              </a:rPr>
              <a:t>Results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97666" y="3759199"/>
            <a:ext cx="169334" cy="347134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24" name="Connector 23"/>
          <p:cNvCxnSpPr/>
          <p:nvPr/>
        </p:nvCxnSpPr>
        <p:spPr>
          <a:xfrm flipV="1">
            <a:off x="2497666" y="4106333"/>
            <a:ext cx="169334" cy="347133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4064000" y="4106333"/>
            <a:ext cx="169333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26" name="Connector 25"/>
          <p:cNvCxnSpPr/>
          <p:nvPr/>
        </p:nvCxnSpPr>
        <p:spPr>
          <a:xfrm flipV="1">
            <a:off x="5630333" y="3412066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27" name="Connector 26"/>
          <p:cNvCxnSpPr/>
          <p:nvPr/>
        </p:nvCxnSpPr>
        <p:spPr>
          <a:xfrm>
            <a:off x="5630333" y="4106333"/>
            <a:ext cx="169333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28" name="Connector 27"/>
          <p:cNvCxnSpPr/>
          <p:nvPr/>
        </p:nvCxnSpPr>
        <p:spPr>
          <a:xfrm>
            <a:off x="5630333" y="4106333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29" name="Connector 28"/>
          <p:cNvCxnSpPr/>
          <p:nvPr/>
        </p:nvCxnSpPr>
        <p:spPr>
          <a:xfrm>
            <a:off x="7196666" y="3412066"/>
            <a:ext cx="169334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0" name="Connector 29"/>
          <p:cNvCxnSpPr/>
          <p:nvPr/>
        </p:nvCxnSpPr>
        <p:spPr>
          <a:xfrm>
            <a:off x="7196666" y="4106333"/>
            <a:ext cx="169334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1" name="Connector 30"/>
          <p:cNvCxnSpPr/>
          <p:nvPr/>
        </p:nvCxnSpPr>
        <p:spPr>
          <a:xfrm flipV="1">
            <a:off x="7196666" y="4106333"/>
            <a:ext cx="169334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2" name="Connector 31"/>
          <p:cNvCxnSpPr/>
          <p:nvPr/>
        </p:nvCxnSpPr>
        <p:spPr>
          <a:xfrm>
            <a:off x="8763000" y="4106333"/>
            <a:ext cx="169333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3" name="Connector 32"/>
          <p:cNvCxnSpPr/>
          <p:nvPr/>
        </p:nvCxnSpPr>
        <p:spPr>
          <a:xfrm flipV="1">
            <a:off x="10329333" y="3412066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4" name="Connector 33"/>
          <p:cNvCxnSpPr/>
          <p:nvPr/>
        </p:nvCxnSpPr>
        <p:spPr>
          <a:xfrm>
            <a:off x="10329333" y="4106333"/>
            <a:ext cx="169333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5" name="Connector 34"/>
          <p:cNvCxnSpPr/>
          <p:nvPr/>
        </p:nvCxnSpPr>
        <p:spPr>
          <a:xfrm>
            <a:off x="10329333" y="4106333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6" name="Connector 35"/>
          <p:cNvCxnSpPr/>
          <p:nvPr/>
        </p:nvCxnSpPr>
        <p:spPr>
          <a:xfrm>
            <a:off x="11895666" y="3412066"/>
            <a:ext cx="169334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7" name="Connector 36"/>
          <p:cNvCxnSpPr/>
          <p:nvPr/>
        </p:nvCxnSpPr>
        <p:spPr>
          <a:xfrm>
            <a:off x="11895666" y="4106333"/>
            <a:ext cx="169334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8" name="Connector 37"/>
          <p:cNvCxnSpPr/>
          <p:nvPr/>
        </p:nvCxnSpPr>
        <p:spPr>
          <a:xfrm flipV="1">
            <a:off x="11895666" y="4106333"/>
            <a:ext cx="169334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39" name="Connector 38"/>
          <p:cNvCxnSpPr/>
          <p:nvPr/>
        </p:nvCxnSpPr>
        <p:spPr>
          <a:xfrm flipV="1">
            <a:off x="13462000" y="3412066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40" name="Connector 39"/>
          <p:cNvCxnSpPr/>
          <p:nvPr/>
        </p:nvCxnSpPr>
        <p:spPr>
          <a:xfrm>
            <a:off x="13462000" y="4106333"/>
            <a:ext cx="169333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41" name="Connector 40"/>
          <p:cNvCxnSpPr/>
          <p:nvPr/>
        </p:nvCxnSpPr>
        <p:spPr>
          <a:xfrm>
            <a:off x="13462000" y="4106333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42" name="Connector 41"/>
          <p:cNvCxnSpPr/>
          <p:nvPr/>
        </p:nvCxnSpPr>
        <p:spPr>
          <a:xfrm>
            <a:off x="15028333" y="3412066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43" name="Connector 42"/>
          <p:cNvCxnSpPr/>
          <p:nvPr/>
        </p:nvCxnSpPr>
        <p:spPr>
          <a:xfrm>
            <a:off x="15028333" y="4106333"/>
            <a:ext cx="169333" cy="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44" name="Connector 43"/>
          <p:cNvCxnSpPr/>
          <p:nvPr/>
        </p:nvCxnSpPr>
        <p:spPr>
          <a:xfrm flipV="1">
            <a:off x="15028333" y="4106333"/>
            <a:ext cx="169333" cy="694267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100666" y="5503333"/>
            <a:ext cx="16086666" cy="338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EB1B21"/>
                </a:solidFill>
                <a:latin typeface="HK Grotesk"/>
              </a:rPr>
              <a:t>Experimental Workflow — UML Activity Diagram (Fig. 4.2)</a:t>
            </a:r>
          </a:p>
        </p:txBody>
      </p:sp>
      <p:sp>
        <p:nvSpPr>
          <p:cNvPr id="46" name="Oval 45"/>
          <p:cNvSpPr/>
          <p:nvPr/>
        </p:nvSpPr>
        <p:spPr>
          <a:xfrm>
            <a:off x="1100666" y="6502400"/>
            <a:ext cx="1862666" cy="1354666"/>
          </a:xfrm>
          <a:prstGeom prst="ellipse">
            <a:avLst/>
          </a:prstGeom>
          <a:solidFill>
            <a:srgbClr val="305496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HK Grotesk Medium"/>
              </a:rPr>
              <a:t>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0666" y="8060266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Load DOTA and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VisDrone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32666" y="6502400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Parse Ground-Truth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Annotations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132666" y="8060266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Identify Common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Categories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164666" y="6502400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Extract Object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Crops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164666" y="8060266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Apply Class-wise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Sampling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196666" y="6502400"/>
            <a:ext cx="1862666" cy="1354666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Select Vision-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Language Model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196666" y="8060266"/>
            <a:ext cx="1862666" cy="1354666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Encode Satellite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Samples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228666" y="6502400"/>
            <a:ext cx="1862666" cy="1354666"/>
          </a:xfrm>
          <a:prstGeom prst="roundRect">
            <a:avLst/>
          </a:prstGeom>
          <a:solidFill>
            <a:srgbClr val="FFE6CC"/>
          </a:solidFill>
          <a:ln w="12700">
            <a:solidFill>
              <a:srgbClr val="D79B0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Encode UAV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Samples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228666" y="8060266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Normalize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Embeddings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260666" y="6502400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Group Embeddings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by Class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1260666" y="8060266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Calculate Class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Centroids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3292666" y="6502400"/>
            <a:ext cx="1862666" cy="1354666"/>
          </a:xfrm>
          <a:prstGeom prst="roundRect">
            <a:avLst/>
          </a:prstGeom>
          <a:solidFill>
            <a:srgbClr val="F8CECC"/>
          </a:solidFill>
          <a:ln w="12700">
            <a:solidFill>
              <a:srgbClr val="B85450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50A30"/>
                </a:solidFill>
                <a:latin typeface="HK Grotesk Medium"/>
              </a:rPr>
              <a:t>Calculate L2 +</a:t>
            </a:r>
          </a:p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050A30"/>
                </a:solidFill>
                <a:latin typeface="HK Grotesk Medium"/>
              </a:rPr>
              <a:t>Cosine Drift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3292666" y="8060266"/>
            <a:ext cx="1862666" cy="1354666"/>
          </a:xfrm>
          <a:prstGeom prst="roundRect">
            <a:avLst/>
          </a:prstGeom>
          <a:solidFill>
            <a:srgbClr val="E1D5E7"/>
          </a:solidFill>
          <a:ln w="12700">
            <a:solidFill>
              <a:srgbClr val="9673A6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Generate PCA /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t-SNE / Heatmaps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5324666" y="6502400"/>
            <a:ext cx="1862666" cy="1354666"/>
          </a:xfrm>
          <a:prstGeom prst="roundRect">
            <a:avLst/>
          </a:prstGeom>
          <a:solidFill>
            <a:srgbClr val="DAE8FC"/>
          </a:solidFill>
          <a:ln w="12700">
            <a:solidFill>
              <a:srgbClr val="6C8EBF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Store Experimental</a:t>
            </a:r>
          </a:p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050A30"/>
                </a:solidFill>
                <a:latin typeface="HK Grotesk Medium"/>
              </a:rPr>
              <a:t>Results</a:t>
            </a:r>
          </a:p>
        </p:txBody>
      </p:sp>
      <p:sp>
        <p:nvSpPr>
          <p:cNvPr id="61" name="Oval 60"/>
          <p:cNvSpPr/>
          <p:nvPr/>
        </p:nvSpPr>
        <p:spPr>
          <a:xfrm>
            <a:off x="15324666" y="8060266"/>
            <a:ext cx="1862666" cy="1354666"/>
          </a:xfrm>
          <a:prstGeom prst="ellipse">
            <a:avLst/>
          </a:prstGeom>
          <a:solidFill>
            <a:srgbClr val="305496"/>
          </a:solidFill>
          <a:ln w="12700">
            <a:solidFill>
              <a:srgbClr val="1F3864"/>
            </a:solidFill>
          </a:ln>
          <a:effectLst/>
        </p:spPr>
        <p:txBody>
          <a:bodyPr rtlCol="0" anchor="ctr" wrap="square" lIns="25400" rIns="25400" tIns="12700" bIns="127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HK Grotesk Medium"/>
              </a:rPr>
              <a:t>END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032000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63" name="Connector 62"/>
          <p:cNvCxnSpPr/>
          <p:nvPr/>
        </p:nvCxnSpPr>
        <p:spPr>
          <a:xfrm flipV="1">
            <a:off x="2963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64" name="Connector 63"/>
          <p:cNvCxnSpPr/>
          <p:nvPr/>
        </p:nvCxnSpPr>
        <p:spPr>
          <a:xfrm>
            <a:off x="4064000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65" name="Connector 64"/>
          <p:cNvCxnSpPr/>
          <p:nvPr/>
        </p:nvCxnSpPr>
        <p:spPr>
          <a:xfrm flipV="1">
            <a:off x="4995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66" name="Connector 65"/>
          <p:cNvCxnSpPr/>
          <p:nvPr/>
        </p:nvCxnSpPr>
        <p:spPr>
          <a:xfrm>
            <a:off x="6095999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67" name="Connector 66"/>
          <p:cNvCxnSpPr/>
          <p:nvPr/>
        </p:nvCxnSpPr>
        <p:spPr>
          <a:xfrm flipV="1">
            <a:off x="7027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68" name="Connector 67"/>
          <p:cNvCxnSpPr/>
          <p:nvPr/>
        </p:nvCxnSpPr>
        <p:spPr>
          <a:xfrm>
            <a:off x="8128000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69" name="Connector 68"/>
          <p:cNvCxnSpPr/>
          <p:nvPr/>
        </p:nvCxnSpPr>
        <p:spPr>
          <a:xfrm flipV="1">
            <a:off x="9059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70" name="Connector 69"/>
          <p:cNvCxnSpPr/>
          <p:nvPr/>
        </p:nvCxnSpPr>
        <p:spPr>
          <a:xfrm>
            <a:off x="10160000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71" name="Connector 70"/>
          <p:cNvCxnSpPr/>
          <p:nvPr/>
        </p:nvCxnSpPr>
        <p:spPr>
          <a:xfrm flipV="1">
            <a:off x="11091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72" name="Connector 71"/>
          <p:cNvCxnSpPr/>
          <p:nvPr/>
        </p:nvCxnSpPr>
        <p:spPr>
          <a:xfrm>
            <a:off x="12191999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73" name="Connector 72"/>
          <p:cNvCxnSpPr/>
          <p:nvPr/>
        </p:nvCxnSpPr>
        <p:spPr>
          <a:xfrm flipV="1">
            <a:off x="13123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74" name="Connector 73"/>
          <p:cNvCxnSpPr/>
          <p:nvPr/>
        </p:nvCxnSpPr>
        <p:spPr>
          <a:xfrm>
            <a:off x="14224000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  <p:cxnSp>
        <p:nvCxnSpPr>
          <p:cNvPr id="75" name="Connector 74"/>
          <p:cNvCxnSpPr/>
          <p:nvPr/>
        </p:nvCxnSpPr>
        <p:spPr>
          <a:xfrm flipV="1">
            <a:off x="15155333" y="7179733"/>
            <a:ext cx="169333" cy="1557867"/>
          </a:xfrm>
          <a:prstGeom prst="line">
            <a:avLst/>
          </a:prstGeom>
          <a:ln w="15875">
            <a:solidFill>
              <a:srgbClr val="D79B00"/>
            </a:solidFill>
            <a:tailEnd type="triangle" w="sm" len="sm"/>
          </a:ln>
          <a:effectLst/>
        </p:spPr>
      </p:cxnSp>
      <p:cxnSp>
        <p:nvCxnSpPr>
          <p:cNvPr id="76" name="Connector 75"/>
          <p:cNvCxnSpPr/>
          <p:nvPr/>
        </p:nvCxnSpPr>
        <p:spPr>
          <a:xfrm>
            <a:off x="16256000" y="7857066"/>
            <a:ext cx="0" cy="203200"/>
          </a:xfrm>
          <a:prstGeom prst="line">
            <a:avLst/>
          </a:prstGeom>
          <a:ln w="15875">
            <a:solidFill>
              <a:srgbClr val="888888"/>
            </a:solidFill>
            <a:tailEnd type="triangle" w="sm" len="sm"/>
          </a:ln>
          <a:effectLst/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234333" y="7154333"/>
            <a:ext cx="4614333" cy="207433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403666" y="7281333"/>
            <a:ext cx="4318000" cy="1862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050A30"/>
                </a:solidFill>
                <a:latin typeface="HK Grotesk Medium"/>
              </a:rPr>
              <a:t>Satellite: DOTA, xView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050A30"/>
                </a:solidFill>
                <a:latin typeface="HK Grotesk Medium"/>
              </a:rPr>
              <a:t>(streamed)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050A30"/>
                </a:solidFill>
                <a:latin typeface="HK Grotesk Medium"/>
              </a:rPr>
              <a:t>UAV: VisDrone, UAVid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050A30"/>
                </a:solidFill>
                <a:latin typeface="HK Grotesk Medium"/>
              </a:rPr>
              <a:t>Historical: Lightning AI</a:t>
            </a:r>
          </a:p>
          <a:p>
            <a:pPr algn="l">
              <a:lnSpc>
                <a:spcPct val="120000"/>
              </a:lnSpc>
            </a:pPr>
            <a:r>
              <a:rPr sz="1650" b="0" i="0">
                <a:solidFill>
                  <a:srgbClr val="050A30"/>
                </a:solidFill>
                <a:latin typeface="HK Grotesk Medium"/>
              </a:rPr>
              <a:t>Studio (Phase-1)</a:t>
            </a:r>
          </a:p>
        </p:txBody>
      </p:sp>
      <p:sp>
        <p:nvSpPr>
          <p:cNvPr id="5" name="Rectangle 4"/>
          <p:cNvSpPr/>
          <p:nvPr/>
        </p:nvSpPr>
        <p:spPr>
          <a:xfrm>
            <a:off x="9398000" y="973666"/>
            <a:ext cx="7958666" cy="465666"/>
          </a:xfrm>
          <a:prstGeom prst="rect">
            <a:avLst/>
          </a:prstGeom>
          <a:solidFill>
            <a:srgbClr val="03082E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98000" y="973666"/>
            <a:ext cx="7958666" cy="465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0" i="0">
                <a:solidFill>
                  <a:srgbClr val="F4F6FC"/>
                </a:solidFill>
                <a:latin typeface="Radley"/>
              </a:rPr>
              <a:t>Semantic Drift in Open-Vocabulary Object Detection Across Altitudes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549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0666" y="1693333"/>
            <a:ext cx="14393333" cy="1100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1095D"/>
                </a:solidFill>
                <a:latin typeface="Arsenal"/>
              </a:rPr>
              <a:t>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66" y="8652673"/>
            <a:ext cx="1608666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b="1" i="1" dirty="0">
                <a:solidFill>
                  <a:srgbClr val="EB1B21"/>
                </a:solidFill>
                <a:latin typeface="HK Grotesk"/>
              </a:rPr>
              <a:t>From the above breakdown it is clear that this project does not require any major expenses while being an impactful research contribution </a:t>
            </a:r>
            <a:r>
              <a:rPr b="1" i="1" dirty="0">
                <a:solidFill>
                  <a:srgbClr val="EB1B21"/>
                </a:solidFill>
                <a:latin typeface="HK Grotesk"/>
              </a:rPr>
              <a:t>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992784"/>
              </p:ext>
            </p:extLst>
          </p:nvPr>
        </p:nvGraphicFramePr>
        <p:xfrm>
          <a:off x="1100666" y="2937932"/>
          <a:ext cx="16086666" cy="49911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18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K Grotesk"/>
                        </a:rPr>
                        <a:t>Category</a:t>
                      </a:r>
                    </a:p>
                  </a:txBody>
                  <a:tcPr>
                    <a:solidFill>
                      <a:srgbClr val="1109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dirty="0">
                          <a:solidFill>
                            <a:srgbClr val="FFFFFF"/>
                          </a:solidFill>
                          <a:latin typeface="HK Grotesk"/>
                        </a:rPr>
                        <a:t>Details</a:t>
                      </a:r>
                    </a:p>
                  </a:txBody>
                  <a:tcPr>
                    <a:solidFill>
                      <a:srgbClr val="1109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K Grotesk"/>
                        </a:rPr>
                        <a:t>Estimated Cost</a:t>
                      </a:r>
                    </a:p>
                  </a:txBody>
                  <a:tcPr>
                    <a:solidFill>
                      <a:srgbClr val="1109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A2E30"/>
                          </a:solidFill>
                          <a:latin typeface="HK Grotesk"/>
                        </a:rPr>
                        <a:t>Compute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Lightning AI Studio (Phase-1, cloud credits) + local RTX 3050 Laptop GPU (already-owned hardware)</a:t>
                      </a:r>
                      <a:r>
                        <a:rPr lang="en-US"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 + allotted GPU</a:t>
                      </a:r>
                      <a:endParaRPr sz="1800" b="0" dirty="0">
                        <a:solidFill>
                          <a:srgbClr val="2A2E30"/>
                        </a:solidFill>
                        <a:latin typeface="HK Grotesk Medium"/>
                      </a:endParaRPr>
                    </a:p>
                  </a:txBody>
                  <a:tcPr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2E30"/>
                          </a:solidFill>
                          <a:latin typeface="HK Grotesk Medium"/>
                        </a:rPr>
                        <a:t>TBD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A2E30"/>
                          </a:solidFill>
                          <a:latin typeface="HK Grotesk"/>
                        </a:rPr>
                        <a:t>Storage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~16 GB local disk for datasets, embeddings, checkpoints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2E30"/>
                          </a:solidFill>
                          <a:latin typeface="HK Grotesk Medium"/>
                        </a:rPr>
                        <a:t>$0 (existing hardware)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A2E30"/>
                          </a:solidFill>
                          <a:latin typeface="HK Grotesk"/>
                        </a:rPr>
                        <a:t>Data acquisition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2E30"/>
                          </a:solidFill>
                          <a:latin typeface="HK Grotesk Medium"/>
                        </a:rPr>
                        <a:t>DOTA, VisDrone, xView, UAVid — all open academic datasets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2E30"/>
                          </a:solidFill>
                          <a:latin typeface="HK Grotesk Medium"/>
                        </a:rPr>
                        <a:t>$0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850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A2E30"/>
                          </a:solidFill>
                          <a:latin typeface="HK Grotesk"/>
                        </a:rPr>
                        <a:t>Software &amp; tools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2A2E30"/>
                          </a:solidFill>
                          <a:latin typeface="HK Grotesk Medium"/>
                        </a:rPr>
                        <a:t>PyTorch</a:t>
                      </a:r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2A2E30"/>
                          </a:solidFill>
                          <a:latin typeface="HK Grotesk Medium"/>
                        </a:rPr>
                        <a:t>HuggingFace</a:t>
                      </a:r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 Transformers, </a:t>
                      </a:r>
                      <a:r>
                        <a:rPr sz="1800" b="0" dirty="0" err="1">
                          <a:solidFill>
                            <a:srgbClr val="2A2E30"/>
                          </a:solidFill>
                          <a:latin typeface="HK Grotesk Medium"/>
                        </a:rPr>
                        <a:t>open_clip</a:t>
                      </a:r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2A2E30"/>
                          </a:solidFill>
                          <a:latin typeface="HK Grotesk Medium"/>
                        </a:rPr>
                        <a:t>RemoteCLIP</a:t>
                      </a:r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 — all open-source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A2E30"/>
                          </a:solidFill>
                          <a:latin typeface="HK Grotesk Medium"/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853">
                <a:tc>
                  <a:txBody>
                    <a:bodyPr/>
                    <a:lstStyle/>
                    <a:p>
                      <a:r>
                        <a:rPr sz="1800" b="1" dirty="0">
                          <a:solidFill>
                            <a:srgbClr val="2A2E30"/>
                          </a:solidFill>
                          <a:latin typeface="HK Grotesk"/>
                        </a:rPr>
                        <a:t>Personnel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5-member student team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2A2E30"/>
                          </a:solidFill>
                          <a:latin typeface="HK Grotesk Medium"/>
                        </a:rPr>
                        <a:t>Not costed (academic capstone)</a:t>
                      </a:r>
                    </a:p>
                  </a:txBody>
                  <a:tcPr>
                    <a:solidFill>
                      <a:srgbClr val="F4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8288000" cy="1549400"/>
          </a:xfrm>
          <a:prstGeom prst="rect">
            <a:avLst/>
          </a:prstGeom>
          <a:effectLst/>
        </p:spPr>
      </p:pic>
      <p:sp>
        <p:nvSpPr>
          <p:cNvPr id="4" name="TextBox 3"/>
          <p:cNvSpPr txBox="1"/>
          <p:nvPr/>
        </p:nvSpPr>
        <p:spPr>
          <a:xfrm>
            <a:off x="1100666" y="1566333"/>
            <a:ext cx="14393333" cy="8466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11095D"/>
                </a:solidFill>
                <a:latin typeface="Arsenal"/>
              </a:rPr>
              <a:t>Project Outcomes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666" y="2641276"/>
            <a:ext cx="7789333" cy="2422113"/>
          </a:xfrm>
          <a:prstGeom prst="rect">
            <a:avLst/>
          </a:prstGeom>
          <a:effectLst/>
        </p:spPr>
      </p:pic>
      <p:sp>
        <p:nvSpPr>
          <p:cNvPr id="6" name="TextBox 5"/>
          <p:cNvSpPr txBox="1"/>
          <p:nvPr/>
        </p:nvSpPr>
        <p:spPr>
          <a:xfrm>
            <a:off x="1100666" y="5130800"/>
            <a:ext cx="7789333" cy="524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EB1B21"/>
                </a:solidFill>
                <a:latin typeface="HK Grotesk Medium"/>
              </a:rPr>
              <a:t>DOTA ↔ VisDrone (3-way): </a:t>
            </a:r>
            <a:r>
              <a:rPr sz="1300" b="0">
                <a:solidFill>
                  <a:srgbClr val="292E2F"/>
                </a:solidFill>
                <a:latin typeface="HK Grotesk Medium"/>
              </a:rPr>
              <a:t>RemoteCLIP and our own fine-tuned CLIP both show consistently lower drift than general CLIP, on held-out data with no train/eval leakage.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0130" y="2624666"/>
            <a:ext cx="6405073" cy="2455333"/>
          </a:xfrm>
          <a:prstGeom prst="rect">
            <a:avLst/>
          </a:prstGeom>
          <a:effectLst/>
        </p:spPr>
      </p:pic>
      <p:sp>
        <p:nvSpPr>
          <p:cNvPr id="8" name="TextBox 7"/>
          <p:cNvSpPr txBox="1"/>
          <p:nvPr/>
        </p:nvSpPr>
        <p:spPr>
          <a:xfrm>
            <a:off x="9398000" y="5130800"/>
            <a:ext cx="7789333" cy="524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EB1B21"/>
                </a:solidFill>
                <a:latin typeface="HK Grotesk Medium"/>
              </a:rPr>
              <a:t>xView ↔ VisDrone/UAVid (4-class): </a:t>
            </a:r>
            <a:r>
              <a:rPr sz="1300" b="0">
                <a:solidFill>
                  <a:srgbClr val="292E2F"/>
                </a:solidFill>
                <a:latin typeface="HK Grotesk Medium"/>
              </a:rPr>
              <a:t>RemoteCLIP reduces drift on all 4 categories — building shows the largest drift and the largest reduction (30%) of anything measured.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1780" y="5774266"/>
            <a:ext cx="6187106" cy="3691466"/>
          </a:xfrm>
          <a:prstGeom prst="rect">
            <a:avLst/>
          </a:prstGeom>
          <a:effectLst/>
        </p:spPr>
      </p:pic>
      <p:sp>
        <p:nvSpPr>
          <p:cNvPr id="10" name="TextBox 9"/>
          <p:cNvSpPr txBox="1"/>
          <p:nvPr/>
        </p:nvSpPr>
        <p:spPr>
          <a:xfrm>
            <a:off x="1100666" y="9516533"/>
            <a:ext cx="7789333" cy="524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EB1B21"/>
                </a:solidFill>
                <a:latin typeface="HK Grotesk Medium"/>
              </a:rPr>
              <a:t>t-SNE, ground-truth crops: </a:t>
            </a:r>
            <a:r>
              <a:rPr sz="1300" b="0">
                <a:solidFill>
                  <a:srgbClr val="292E2F"/>
                </a:solidFill>
                <a:latin typeface="HK Grotesk Medium"/>
              </a:rPr>
              <a:t>the building class forms two visually distinct clusters by altitude — a direct geometric picture of its outsized drift score.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98000" y="5958874"/>
            <a:ext cx="7789333" cy="3322251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9398000" y="9516533"/>
            <a:ext cx="7789333" cy="5249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EB1B21"/>
                </a:solidFill>
                <a:latin typeface="HK Grotesk Medium"/>
              </a:rPr>
              <a:t>Drift reduction, normalized: </a:t>
            </a:r>
            <a:r>
              <a:rPr sz="1300" b="0">
                <a:solidFill>
                  <a:srgbClr val="292E2F"/>
                </a:solidFill>
                <a:latin typeface="HK Grotesk Medium"/>
              </a:rPr>
              <a:t>L2 and cosine distance on one common scale (% of CLIP baseline) — specialization cuts drift 12–88% across every class and metric tested.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header_b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549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0666" y="1693333"/>
            <a:ext cx="14393333" cy="1100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11095D"/>
                </a:solidFill>
                <a:latin typeface="Arsenal"/>
              </a:rPr>
              <a:t>Current Progress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666" y="2963333"/>
            <a:ext cx="84666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EB1B21"/>
                </a:solidFill>
                <a:latin typeface="HK Grotesk"/>
              </a:rPr>
              <a:t>Completion by Approved Phase (Methodology, Sec. 1.8)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100666" y="3556000"/>
          <a:ext cx="8890000" cy="508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Rectangle 6"/>
          <p:cNvSpPr/>
          <p:nvPr/>
        </p:nvSpPr>
        <p:spPr>
          <a:xfrm>
            <a:off x="10414001" y="2963333"/>
            <a:ext cx="5926666" cy="2180168"/>
          </a:xfrm>
          <a:prstGeom prst="rect">
            <a:avLst/>
          </a:prstGeom>
          <a:solidFill>
            <a:srgbClr val="F4F5FB"/>
          </a:solidFill>
          <a:ln w="12700">
            <a:solidFill>
              <a:srgbClr val="11095D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25134" y="3188409"/>
            <a:ext cx="5566833" cy="177490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•  6 object categories tested</a:t>
            </a:r>
          </a:p>
          <a:p>
            <a:pPr algn="l">
              <a:lnSpc>
                <a:spcPct val="130000"/>
              </a:lnSpc>
            </a:pP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•  2 independent satellite datasets (DOTA, </a:t>
            </a:r>
            <a:r>
              <a:rPr i="0" dirty="0" err="1">
                <a:solidFill>
                  <a:srgbClr val="050A30"/>
                </a:solidFill>
                <a:latin typeface="HK Grotesk" pitchFamily="2" charset="0"/>
              </a:rPr>
              <a:t>xView</a:t>
            </a: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•  2 independent UAV datasets (</a:t>
            </a:r>
            <a:r>
              <a:rPr i="0" dirty="0" err="1">
                <a:solidFill>
                  <a:srgbClr val="050A30"/>
                </a:solidFill>
                <a:latin typeface="HK Grotesk" pitchFamily="2" charset="0"/>
              </a:rPr>
              <a:t>VisDrone</a:t>
            </a: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, </a:t>
            </a:r>
            <a:r>
              <a:rPr i="0" dirty="0" err="1">
                <a:solidFill>
                  <a:srgbClr val="050A30"/>
                </a:solidFill>
                <a:latin typeface="HK Grotesk" pitchFamily="2" charset="0"/>
              </a:rPr>
              <a:t>UAVid</a:t>
            </a: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)</a:t>
            </a:r>
          </a:p>
          <a:p>
            <a:pPr algn="l">
              <a:lnSpc>
                <a:spcPct val="130000"/>
              </a:lnSpc>
            </a:pP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•  </a:t>
            </a:r>
            <a:r>
              <a:rPr i="0" dirty="0" err="1">
                <a:solidFill>
                  <a:srgbClr val="050A30"/>
                </a:solidFill>
                <a:latin typeface="HK Grotesk" pitchFamily="2" charset="0"/>
              </a:rPr>
              <a:t>RemoteCLIP</a:t>
            </a:r>
            <a:r>
              <a:rPr i="0" dirty="0">
                <a:solidFill>
                  <a:srgbClr val="050A30"/>
                </a:solidFill>
                <a:latin typeface="HK Grotesk" pitchFamily="2" charset="0"/>
              </a:rPr>
              <a:t> reduces drift on ALL 6 categories (12–30%)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83333" y="5969000"/>
            <a:ext cx="5926666" cy="338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 dirty="0">
                <a:solidFill>
                  <a:srgbClr val="EB1B21"/>
                </a:solidFill>
                <a:latin typeface="HK Grotesk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83333" y="6434666"/>
            <a:ext cx="5842000" cy="18977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2A2E30"/>
                </a:solidFill>
                <a:latin typeface="HK Grotesk Medium"/>
              </a:rPr>
              <a:t>•  Seed/sample-size robustness check</a:t>
            </a:r>
          </a:p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2A2E30"/>
                </a:solidFill>
                <a:latin typeface="HK Grotesk Medium"/>
              </a:rPr>
              <a:t>•  Scale to full DOTA / </a:t>
            </a:r>
            <a:r>
              <a:rPr sz="1600" b="0" i="0" dirty="0" err="1">
                <a:solidFill>
                  <a:srgbClr val="2A2E30"/>
                </a:solidFill>
                <a:latin typeface="HK Grotesk Medium"/>
              </a:rPr>
              <a:t>VisDrone</a:t>
            </a:r>
            <a:r>
              <a:rPr sz="1600" b="0" i="0" dirty="0">
                <a:solidFill>
                  <a:srgbClr val="2A2E30"/>
                </a:solidFill>
                <a:latin typeface="HK Grotesk Medium"/>
              </a:rPr>
              <a:t> / </a:t>
            </a:r>
            <a:r>
              <a:rPr sz="1600" b="0" i="0" dirty="0" err="1">
                <a:solidFill>
                  <a:srgbClr val="2A2E30"/>
                </a:solidFill>
                <a:latin typeface="HK Grotesk Medium"/>
              </a:rPr>
              <a:t>xView</a:t>
            </a:r>
            <a:endParaRPr sz="1600" b="0" i="0" dirty="0">
              <a:solidFill>
                <a:srgbClr val="2A2E30"/>
              </a:solidFill>
              <a:latin typeface="HK Grotesk Medium"/>
            </a:endParaRPr>
          </a:p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2A2E30"/>
                </a:solidFill>
                <a:latin typeface="HK Grotesk Medium"/>
              </a:rPr>
              <a:t>•  Phase 4: drift-vs-</a:t>
            </a:r>
            <a:r>
              <a:rPr sz="1600" b="0" i="0" dirty="0" err="1">
                <a:solidFill>
                  <a:srgbClr val="2A2E30"/>
                </a:solidFill>
                <a:latin typeface="HK Grotesk Medium"/>
              </a:rPr>
              <a:t>mAP</a:t>
            </a:r>
            <a:r>
              <a:rPr sz="1600" b="0" i="0" dirty="0">
                <a:solidFill>
                  <a:srgbClr val="2A2E30"/>
                </a:solidFill>
                <a:latin typeface="HK Grotesk Medium"/>
              </a:rPr>
              <a:t> correlation study</a:t>
            </a:r>
          </a:p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2A2E30"/>
                </a:solidFill>
                <a:latin typeface="HK Grotesk Medium"/>
              </a:rPr>
              <a:t>•  Phase 5: altitude-conditioned alignment module</a:t>
            </a:r>
          </a:p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2A2E30"/>
                </a:solidFill>
                <a:latin typeface="HK Grotesk Medium"/>
              </a:rPr>
              <a:t>•  Phase 6: </a:t>
            </a:r>
            <a:r>
              <a:rPr sz="1600" b="0" i="0" dirty="0" err="1">
                <a:solidFill>
                  <a:srgbClr val="2A2E30"/>
                </a:solidFill>
                <a:latin typeface="HK Grotesk Medium"/>
              </a:rPr>
              <a:t>mAP</a:t>
            </a:r>
            <a:r>
              <a:rPr sz="1600" b="0" i="0" dirty="0">
                <a:solidFill>
                  <a:srgbClr val="2A2E30"/>
                </a:solidFill>
                <a:latin typeface="HK Grotesk Medium"/>
              </a:rPr>
              <a:t> + cross-altitude gap evaluation</a:t>
            </a:r>
          </a:p>
          <a:p>
            <a:pPr algn="l">
              <a:lnSpc>
                <a:spcPct val="130000"/>
              </a:lnSpc>
            </a:pPr>
            <a:r>
              <a:rPr sz="1600" b="0" i="0" dirty="0">
                <a:solidFill>
                  <a:srgbClr val="2A2E30"/>
                </a:solidFill>
                <a:latin typeface="HK Grotesk Medium"/>
              </a:rPr>
              <a:t>•  Integrate with teammate's SAM-based detection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510</Words>
  <Application>Microsoft Office PowerPoint</Application>
  <PresentationFormat>Custom</PresentationFormat>
  <Paragraphs>66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Arsenal</vt:lpstr>
      <vt:lpstr>Calibri</vt:lpstr>
      <vt:lpstr>HK Grotesk</vt:lpstr>
      <vt:lpstr>HK Grotesk Medium</vt:lpstr>
      <vt:lpstr>Radley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Kabir Oberoi</cp:lastModifiedBy>
  <cp:revision>6</cp:revision>
  <dcterms:created xsi:type="dcterms:W3CDTF">2013-01-27T09:14:16Z</dcterms:created>
  <dcterms:modified xsi:type="dcterms:W3CDTF">2026-08-21T20:03:29Z</dcterms:modified>
  <cp:category/>
</cp:coreProperties>
</file>